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1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3AE7D-EC26-43AA-8F41-9DBC3C3FAB17}" v="1" dt="2026-06-08T14:46:42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io rubatto" userId="129c4d42e57b7833" providerId="LiveId" clId="{0C0E10FD-3B87-4394-9DEC-DEA417706736}"/>
    <pc:docChg chg="undo custSel addSld modSld">
      <pc:chgData name="silvio rubatto" userId="129c4d42e57b7833" providerId="LiveId" clId="{0C0E10FD-3B87-4394-9DEC-DEA417706736}" dt="2026-06-08T14:48:13.647" v="267" actId="20577"/>
      <pc:docMkLst>
        <pc:docMk/>
      </pc:docMkLst>
      <pc:sldChg chg="addSp delSp modSp mod">
        <pc:chgData name="silvio rubatto" userId="129c4d42e57b7833" providerId="LiveId" clId="{0C0E10FD-3B87-4394-9DEC-DEA417706736}" dt="2026-06-08T14:43:16.816" v="23" actId="1076"/>
        <pc:sldMkLst>
          <pc:docMk/>
          <pc:sldMk cId="0" sldId="261"/>
        </pc:sldMkLst>
        <pc:spChg chg="add del mod">
          <ac:chgData name="silvio rubatto" userId="129c4d42e57b7833" providerId="LiveId" clId="{0C0E10FD-3B87-4394-9DEC-DEA417706736}" dt="2026-06-08T14:42:43.936" v="13" actId="478"/>
          <ac:spMkLst>
            <pc:docMk/>
            <pc:sldMk cId="0" sldId="261"/>
            <ac:spMk id="6" creationId="{BE4AD705-B79F-B1DD-7874-7AEC480902C3}"/>
          </ac:spMkLst>
        </pc:spChg>
        <pc:spChg chg="del">
          <ac:chgData name="silvio rubatto" userId="129c4d42e57b7833" providerId="LiveId" clId="{0C0E10FD-3B87-4394-9DEC-DEA417706736}" dt="2026-06-08T14:38:09.940" v="2" actId="478"/>
          <ac:spMkLst>
            <pc:docMk/>
            <pc:sldMk cId="0" sldId="261"/>
            <ac:spMk id="52" creationId="{00000000-0000-0000-0000-000000000000}"/>
          </ac:spMkLst>
        </pc:spChg>
        <pc:spChg chg="del mod">
          <ac:chgData name="silvio rubatto" userId="129c4d42e57b7833" providerId="LiveId" clId="{0C0E10FD-3B87-4394-9DEC-DEA417706736}" dt="2026-06-08T14:38:07.258" v="1" actId="478"/>
          <ac:spMkLst>
            <pc:docMk/>
            <pc:sldMk cId="0" sldId="261"/>
            <ac:spMk id="53" creationId="{00000000-0000-0000-0000-000000000000}"/>
          </ac:spMkLst>
        </pc:spChg>
        <pc:spChg chg="del">
          <ac:chgData name="silvio rubatto" userId="129c4d42e57b7833" providerId="LiveId" clId="{0C0E10FD-3B87-4394-9DEC-DEA417706736}" dt="2026-06-08T14:38:30.578" v="6" actId="478"/>
          <ac:spMkLst>
            <pc:docMk/>
            <pc:sldMk cId="0" sldId="261"/>
            <ac:spMk id="54" creationId="{00000000-0000-0000-0000-000000000000}"/>
          </ac:spMkLst>
        </pc:spChg>
        <pc:spChg chg="mod">
          <ac:chgData name="silvio rubatto" userId="129c4d42e57b7833" providerId="LiveId" clId="{0C0E10FD-3B87-4394-9DEC-DEA417706736}" dt="2026-06-08T14:43:12.593" v="22" actId="20577"/>
          <ac:spMkLst>
            <pc:docMk/>
            <pc:sldMk cId="0" sldId="261"/>
            <ac:spMk id="55" creationId="{00000000-0000-0000-0000-000000000000}"/>
          </ac:spMkLst>
        </pc:spChg>
        <pc:spChg chg="del">
          <ac:chgData name="silvio rubatto" userId="129c4d42e57b7833" providerId="LiveId" clId="{0C0E10FD-3B87-4394-9DEC-DEA417706736}" dt="2026-06-08T14:38:30.578" v="6" actId="478"/>
          <ac:spMkLst>
            <pc:docMk/>
            <pc:sldMk cId="0" sldId="261"/>
            <ac:spMk id="56" creationId="{00000000-0000-0000-0000-000000000000}"/>
          </ac:spMkLst>
        </pc:spChg>
        <pc:spChg chg="mod">
          <ac:chgData name="silvio rubatto" userId="129c4d42e57b7833" providerId="LiveId" clId="{0C0E10FD-3B87-4394-9DEC-DEA417706736}" dt="2026-06-08T14:43:16.816" v="23" actId="1076"/>
          <ac:spMkLst>
            <pc:docMk/>
            <pc:sldMk cId="0" sldId="261"/>
            <ac:spMk id="57" creationId="{00000000-0000-0000-0000-000000000000}"/>
          </ac:spMkLst>
        </pc:spChg>
        <pc:spChg chg="del">
          <ac:chgData name="silvio rubatto" userId="129c4d42e57b7833" providerId="LiveId" clId="{0C0E10FD-3B87-4394-9DEC-DEA417706736}" dt="2026-06-08T14:38:30.578" v="6" actId="478"/>
          <ac:spMkLst>
            <pc:docMk/>
            <pc:sldMk cId="0" sldId="261"/>
            <ac:spMk id="58" creationId="{00000000-0000-0000-0000-000000000000}"/>
          </ac:spMkLst>
        </pc:spChg>
        <pc:spChg chg="mod">
          <ac:chgData name="silvio rubatto" userId="129c4d42e57b7833" providerId="LiveId" clId="{0C0E10FD-3B87-4394-9DEC-DEA417706736}" dt="2026-06-08T14:43:04.088" v="16" actId="1076"/>
          <ac:spMkLst>
            <pc:docMk/>
            <pc:sldMk cId="0" sldId="261"/>
            <ac:spMk id="59" creationId="{00000000-0000-0000-0000-000000000000}"/>
          </ac:spMkLst>
        </pc:spChg>
      </pc:sldChg>
      <pc:sldChg chg="modSp mod">
        <pc:chgData name="silvio rubatto" userId="129c4d42e57b7833" providerId="LiveId" clId="{0C0E10FD-3B87-4394-9DEC-DEA417706736}" dt="2026-06-08T14:45:40.395" v="24" actId="6549"/>
        <pc:sldMkLst>
          <pc:docMk/>
          <pc:sldMk cId="0" sldId="269"/>
        </pc:sldMkLst>
        <pc:spChg chg="mod">
          <ac:chgData name="silvio rubatto" userId="129c4d42e57b7833" providerId="LiveId" clId="{0C0E10FD-3B87-4394-9DEC-DEA417706736}" dt="2026-06-08T14:45:40.395" v="24" actId="6549"/>
          <ac:spMkLst>
            <pc:docMk/>
            <pc:sldMk cId="0" sldId="269"/>
            <ac:spMk id="4" creationId="{00000000-0000-0000-0000-000000000000}"/>
          </ac:spMkLst>
        </pc:spChg>
      </pc:sldChg>
      <pc:sldChg chg="modSp add mod">
        <pc:chgData name="silvio rubatto" userId="129c4d42e57b7833" providerId="LiveId" clId="{0C0E10FD-3B87-4394-9DEC-DEA417706736}" dt="2026-06-08T14:48:13.647" v="267" actId="20577"/>
        <pc:sldMkLst>
          <pc:docMk/>
          <pc:sldMk cId="654367738" sldId="281"/>
        </pc:sldMkLst>
        <pc:spChg chg="mod">
          <ac:chgData name="silvio rubatto" userId="129c4d42e57b7833" providerId="LiveId" clId="{0C0E10FD-3B87-4394-9DEC-DEA417706736}" dt="2026-06-08T14:46:45.731" v="27" actId="20577"/>
          <ac:spMkLst>
            <pc:docMk/>
            <pc:sldMk cId="654367738" sldId="281"/>
            <ac:spMk id="2" creationId="{E813FE29-6759-A88A-5DC7-467758E9E472}"/>
          </ac:spMkLst>
        </pc:spChg>
        <pc:spChg chg="mod">
          <ac:chgData name="silvio rubatto" userId="129c4d42e57b7833" providerId="LiveId" clId="{0C0E10FD-3B87-4394-9DEC-DEA417706736}" dt="2026-06-08T14:46:51.721" v="41" actId="20577"/>
          <ac:spMkLst>
            <pc:docMk/>
            <pc:sldMk cId="654367738" sldId="281"/>
            <ac:spMk id="5" creationId="{FAF494C6-51EE-354B-3BC9-37B7AD57866F}"/>
          </ac:spMkLst>
        </pc:spChg>
        <pc:spChg chg="mod">
          <ac:chgData name="silvio rubatto" userId="129c4d42e57b7833" providerId="LiveId" clId="{0C0E10FD-3B87-4394-9DEC-DEA417706736}" dt="2026-06-08T14:48:13.647" v="267" actId="20577"/>
          <ac:spMkLst>
            <pc:docMk/>
            <pc:sldMk cId="654367738" sldId="281"/>
            <ac:spMk id="6" creationId="{17F79B62-98B2-525F-A86C-E0E435B264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67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/home/claude/build/logo_q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4094" y="1928051"/>
            <a:ext cx="3657600" cy="30175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0624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QUALAMANTIS   //   SERVICE OFFERING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206240" y="25146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Transformation Program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20624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quality from a hidden cost into competitive advantage.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206240" y="4572000"/>
            <a:ext cx="32004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20624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Qualamantis Consulting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0624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ASPERA AD ASTRA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THE STAKES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Poor quality is already costing you — quietly</a:t>
            </a:r>
          </a:p>
        </p:txBody>
      </p:sp>
      <p:sp>
        <p:nvSpPr>
          <p:cNvPr id="50" name="tb50"/>
          <p:cNvSpPr/>
          <p:nvPr/>
        </p:nvSpPr>
        <p:spPr>
          <a:xfrm>
            <a:off x="548640" y="1760000"/>
            <a:ext cx="1088136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</a:rPr>
              <a:t>Recurring defects, slow launches and constant firefighting rarely show up as one line on the P&amp;L. They surface as eroded margin, missed deadlines and lost customers — a tax most companies pay without ever measuring it.</a:t>
            </a:r>
          </a:p>
        </p:txBody>
      </p:sp>
      <p:sp>
        <p:nvSpPr>
          <p:cNvPr id="51" name="pn51"/>
          <p:cNvSpPr/>
          <p:nvPr/>
        </p:nvSpPr>
        <p:spPr>
          <a:xfrm>
            <a:off x="548640" y="3780000"/>
            <a:ext cx="10881360" cy="1050000"/>
          </a:xfrm>
          <a:prstGeom prst="roundRect">
            <a:avLst>
              <a:gd name="adj" fmla="val 8000"/>
            </a:avLst>
          </a:prstGeom>
          <a:solidFill>
            <a:srgbClr val="F4E4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b52"/>
          <p:cNvSpPr/>
          <p:nvPr/>
        </p:nvSpPr>
        <p:spPr>
          <a:xfrm>
            <a:off x="768640" y="3780000"/>
            <a:ext cx="1044136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</a:rPr>
              <a:t>The real question is not whether you can afford to transform quality — it is how much the status quo is costing you every year.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2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THE PROGRAM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One program, three moves that compound</a:t>
            </a:r>
          </a:p>
        </p:txBody>
      </p:sp>
      <p:sp>
        <p:nvSpPr>
          <p:cNvPr id="50" name="pn50"/>
          <p:cNvSpPr/>
          <p:nvPr/>
        </p:nvSpPr>
        <p:spPr>
          <a:xfrm>
            <a:off x="548640" y="1820000"/>
            <a:ext cx="3444240" cy="33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cl51"/>
          <p:cNvSpPr/>
          <p:nvPr/>
        </p:nvSpPr>
        <p:spPr>
          <a:xfrm>
            <a:off x="848640" y="2140000"/>
            <a:ext cx="760000" cy="7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tb52"/>
          <p:cNvSpPr/>
          <p:nvPr/>
        </p:nvSpPr>
        <p:spPr>
          <a:xfrm>
            <a:off x="848640" y="3100000"/>
            <a:ext cx="284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Gap Assessment</a:t>
            </a:r>
          </a:p>
        </p:txBody>
      </p:sp>
      <p:sp>
        <p:nvSpPr>
          <p:cNvPr id="53" name="tb53"/>
          <p:cNvSpPr/>
          <p:nvPr/>
        </p:nvSpPr>
        <p:spPr>
          <a:xfrm>
            <a:off x="848640" y="3720000"/>
            <a:ext cx="2844240" cy="1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See clearly where you stand — and what it is costing you today.</a:t>
            </a:r>
          </a:p>
        </p:txBody>
      </p:sp>
      <p:sp>
        <p:nvSpPr>
          <p:cNvPr id="54" name="pn54"/>
          <p:cNvSpPr/>
          <p:nvPr/>
        </p:nvSpPr>
        <p:spPr>
          <a:xfrm>
            <a:off x="4267200" y="1820000"/>
            <a:ext cx="3444240" cy="33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cl55"/>
          <p:cNvSpPr/>
          <p:nvPr/>
        </p:nvSpPr>
        <p:spPr>
          <a:xfrm>
            <a:off x="4567200" y="2140000"/>
            <a:ext cx="760000" cy="7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6" name="tb56"/>
          <p:cNvSpPr/>
          <p:nvPr/>
        </p:nvSpPr>
        <p:spPr>
          <a:xfrm>
            <a:off x="4567200" y="3100000"/>
            <a:ext cx="284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Action Plan</a:t>
            </a:r>
          </a:p>
        </p:txBody>
      </p:sp>
      <p:sp>
        <p:nvSpPr>
          <p:cNvPr id="57" name="tb57"/>
          <p:cNvSpPr/>
          <p:nvPr/>
        </p:nvSpPr>
        <p:spPr>
          <a:xfrm>
            <a:off x="4567200" y="3720000"/>
            <a:ext cx="2844240" cy="1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Build the processes and the people that make quality stick.</a:t>
            </a:r>
          </a:p>
        </p:txBody>
      </p:sp>
      <p:sp>
        <p:nvSpPr>
          <p:cNvPr id="58" name="pn58"/>
          <p:cNvSpPr/>
          <p:nvPr/>
        </p:nvSpPr>
        <p:spPr>
          <a:xfrm>
            <a:off x="7985760" y="1820000"/>
            <a:ext cx="3444240" cy="33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cl59"/>
          <p:cNvSpPr/>
          <p:nvPr/>
        </p:nvSpPr>
        <p:spPr>
          <a:xfrm>
            <a:off x="8285760" y="2140000"/>
            <a:ext cx="760000" cy="7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60" name="tb60"/>
          <p:cNvSpPr/>
          <p:nvPr/>
        </p:nvSpPr>
        <p:spPr>
          <a:xfrm>
            <a:off x="8285760" y="3100000"/>
            <a:ext cx="284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Cost Improvement</a:t>
            </a:r>
          </a:p>
        </p:txBody>
      </p:sp>
      <p:sp>
        <p:nvSpPr>
          <p:cNvPr id="61" name="tb61"/>
          <p:cNvSpPr/>
          <p:nvPr/>
        </p:nvSpPr>
        <p:spPr>
          <a:xfrm>
            <a:off x="8285760" y="3720000"/>
            <a:ext cx="2844240" cy="1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Drive product cost down across all processes — with or without a quality problem.</a:t>
            </a:r>
          </a:p>
        </p:txBody>
      </p:sp>
      <p:sp>
        <p:nvSpPr>
          <p:cNvPr id="62" name="tb62"/>
          <p:cNvSpPr/>
          <p:nvPr/>
        </p:nvSpPr>
        <p:spPr>
          <a:xfrm>
            <a:off x="548640" y="5400000"/>
            <a:ext cx="1088136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</a:rPr>
              <a:t>Diagnose  →  Build  →  Capture value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3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2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FFFF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370332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Assessment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your business really runs — and where value leaks out.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AXIS 1  //  GAP ASSESSMENT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Start with the truth, not assumptions</a:t>
            </a:r>
          </a:p>
        </p:txBody>
      </p:sp>
      <p:sp>
        <p:nvSpPr>
          <p:cNvPr id="50" name="rc50"/>
          <p:cNvSpPr/>
          <p:nvPr/>
        </p:nvSpPr>
        <p:spPr>
          <a:xfrm>
            <a:off x="457200" y="1780000"/>
            <a:ext cx="36576" cy="13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b51"/>
          <p:cNvSpPr/>
          <p:nvPr/>
        </p:nvSpPr>
        <p:spPr>
          <a:xfrm>
            <a:off x="640080" y="1780000"/>
            <a:ext cx="1078992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</a:rPr>
              <a:t>Together with your leadership we run a company-level Gap and SWOT analysis — covering quality performance and product cost as two independent lenses. We surface the structural, organizational and cultural factors that quietly drive, or block, both.</a:t>
            </a:r>
          </a:p>
        </p:txBody>
      </p:sp>
      <p:sp>
        <p:nvSpPr>
          <p:cNvPr id="52" name="pn52"/>
          <p:cNvSpPr/>
          <p:nvPr/>
        </p:nvSpPr>
        <p:spPr>
          <a:xfrm>
            <a:off x="548640" y="3850000"/>
            <a:ext cx="10881360" cy="1000000"/>
          </a:xfrm>
          <a:prstGeom prst="roundRect">
            <a:avLst>
              <a:gd name="adj" fmla="val 8000"/>
            </a:avLst>
          </a:prstGeom>
          <a:solidFill>
            <a:srgbClr val="F4E4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b53"/>
          <p:cNvSpPr/>
          <p:nvPr/>
        </p:nvSpPr>
        <p:spPr>
          <a:xfrm>
            <a:off x="768640" y="3850000"/>
            <a:ext cx="1044136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</a:rPr>
              <a:t>One honest picture — quality and product cost, independently assessed — before you spend a euro on change.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5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AXIS 1  //  METHOD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A diagnostic that looks where both quality and cost value leak</a:t>
            </a:r>
          </a:p>
        </p:txBody>
      </p:sp>
      <p:sp>
        <p:nvSpPr>
          <p:cNvPr id="50" name="cl50"/>
          <p:cNvSpPr/>
          <p:nvPr/>
        </p:nvSpPr>
        <p:spPr>
          <a:xfrm>
            <a:off x="548640" y="1780000"/>
            <a:ext cx="560000" cy="5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◆</a:t>
            </a:r>
          </a:p>
        </p:txBody>
      </p:sp>
      <p:sp>
        <p:nvSpPr>
          <p:cNvPr id="51" name="tb51"/>
          <p:cNvSpPr/>
          <p:nvPr/>
        </p:nvSpPr>
        <p:spPr>
          <a:xfrm>
            <a:off x="1308640" y="169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Gap &amp; SWOT analysis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Strategic strengths, weaknesses and blind spots.</a:t>
            </a:r>
          </a:p>
        </p:txBody>
      </p:sp>
      <p:sp>
        <p:nvSpPr>
          <p:cNvPr id="55" name="tb55"/>
          <p:cNvSpPr/>
          <p:nvPr/>
        </p:nvSpPr>
        <p:spPr>
          <a:xfrm>
            <a:off x="1796015" y="2528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Business process assessment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Whether your core processes deliver on Quality AND Cost.</a:t>
            </a:r>
          </a:p>
        </p:txBody>
      </p:sp>
      <p:sp>
        <p:nvSpPr>
          <p:cNvPr id="57" name="tb57"/>
          <p:cNvSpPr/>
          <p:nvPr/>
        </p:nvSpPr>
        <p:spPr>
          <a:xfrm>
            <a:off x="1796015" y="3533756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Hidden-factor assessment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The culture and behaviours that shape real outcomes.</a:t>
            </a:r>
          </a:p>
        </p:txBody>
      </p:sp>
      <p:sp>
        <p:nvSpPr>
          <p:cNvPr id="59" name="tb59"/>
          <p:cNvSpPr/>
          <p:nvPr/>
        </p:nvSpPr>
        <p:spPr>
          <a:xfrm>
            <a:off x="1796015" y="458126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Lean &amp; digital maturity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Where waste, missing data and improvement process gaps slow you down.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6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AXIS 1  //  OUTCOME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You leave with a baseline and a direction</a:t>
            </a:r>
          </a:p>
        </p:txBody>
      </p:sp>
      <p:sp>
        <p:nvSpPr>
          <p:cNvPr id="50" name="pn50"/>
          <p:cNvSpPr/>
          <p:nvPr/>
        </p:nvSpPr>
        <p:spPr>
          <a:xfrm>
            <a:off x="548640" y="1980000"/>
            <a:ext cx="3444240" cy="30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c51"/>
          <p:cNvSpPr/>
          <p:nvPr/>
        </p:nvSpPr>
        <p:spPr>
          <a:xfrm>
            <a:off x="848640" y="2320000"/>
            <a:ext cx="520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b52"/>
          <p:cNvSpPr/>
          <p:nvPr/>
        </p:nvSpPr>
        <p:spPr>
          <a:xfrm>
            <a:off x="848640" y="2540000"/>
            <a:ext cx="28442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Maturity baseline</a:t>
            </a:r>
          </a:p>
        </p:txBody>
      </p:sp>
      <p:sp>
        <p:nvSpPr>
          <p:cNvPr id="53" name="tb53"/>
          <p:cNvSpPr/>
          <p:nvPr/>
        </p:nvSpPr>
        <p:spPr>
          <a:xfrm>
            <a:off x="848640" y="3300000"/>
            <a:ext cx="284424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Where you stand today — objectively scored, not guessed.</a:t>
            </a:r>
          </a:p>
        </p:txBody>
      </p:sp>
      <p:sp>
        <p:nvSpPr>
          <p:cNvPr id="54" name="pn54"/>
          <p:cNvSpPr/>
          <p:nvPr/>
        </p:nvSpPr>
        <p:spPr>
          <a:xfrm>
            <a:off x="4267200" y="1980000"/>
            <a:ext cx="3444240" cy="30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rc55"/>
          <p:cNvSpPr/>
          <p:nvPr/>
        </p:nvSpPr>
        <p:spPr>
          <a:xfrm>
            <a:off x="4567200" y="2320000"/>
            <a:ext cx="520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b56"/>
          <p:cNvSpPr/>
          <p:nvPr/>
        </p:nvSpPr>
        <p:spPr>
          <a:xfrm>
            <a:off x="4567200" y="2540000"/>
            <a:ext cx="28442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Prioritised findings</a:t>
            </a:r>
          </a:p>
        </p:txBody>
      </p:sp>
      <p:sp>
        <p:nvSpPr>
          <p:cNvPr id="57" name="tb57"/>
          <p:cNvSpPr/>
          <p:nvPr/>
        </p:nvSpPr>
        <p:spPr>
          <a:xfrm>
            <a:off x="4567200" y="3300000"/>
            <a:ext cx="284424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Risks and opportunities ranked by euro impact.</a:t>
            </a:r>
          </a:p>
        </p:txBody>
      </p:sp>
      <p:sp>
        <p:nvSpPr>
          <p:cNvPr id="58" name="pn58"/>
          <p:cNvSpPr/>
          <p:nvPr/>
        </p:nvSpPr>
        <p:spPr>
          <a:xfrm>
            <a:off x="7985760" y="1980000"/>
            <a:ext cx="3444240" cy="30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rc59"/>
          <p:cNvSpPr/>
          <p:nvPr/>
        </p:nvSpPr>
        <p:spPr>
          <a:xfrm>
            <a:off x="8285760" y="2320000"/>
            <a:ext cx="520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b60"/>
          <p:cNvSpPr/>
          <p:nvPr/>
        </p:nvSpPr>
        <p:spPr>
          <a:xfrm>
            <a:off x="8285760" y="2540000"/>
            <a:ext cx="28442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Strategic direction</a:t>
            </a:r>
          </a:p>
        </p:txBody>
      </p:sp>
      <p:sp>
        <p:nvSpPr>
          <p:cNvPr id="61" name="tb61"/>
          <p:cNvSpPr/>
          <p:nvPr/>
        </p:nvSpPr>
        <p:spPr>
          <a:xfrm>
            <a:off x="8285760" y="3300000"/>
            <a:ext cx="284424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The shortest path from today to a value-driven system.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7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2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FFFF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TWO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370332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diagnosis into processes and people that hold.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AXIS 2  //  THE ACTION PLAN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Seven workstreams that turn insight into action</a:t>
            </a:r>
          </a:p>
        </p:txBody>
      </p:sp>
      <p:sp>
        <p:nvSpPr>
          <p:cNvPr id="50" name="tb50"/>
          <p:cNvSpPr/>
          <p:nvPr/>
        </p:nvSpPr>
        <p:spPr>
          <a:xfrm>
            <a:off x="548640" y="1620000"/>
            <a:ext cx="10881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</a:rPr>
              <a:t>Not a report to file away. We turn the diagnosis into a plan with clear owners and KPIs, built around seven typical workstreams:</a:t>
            </a:r>
          </a:p>
        </p:txBody>
      </p:sp>
      <p:sp>
        <p:nvSpPr>
          <p:cNvPr id="51" name="cl51"/>
          <p:cNvSpPr/>
          <p:nvPr/>
        </p:nvSpPr>
        <p:spPr>
          <a:xfrm>
            <a:off x="548640" y="2240000"/>
            <a:ext cx="520000" cy="5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tb52"/>
          <p:cNvSpPr/>
          <p:nvPr/>
        </p:nvSpPr>
        <p:spPr>
          <a:xfrm>
            <a:off x="1248640" y="2170000"/>
            <a:ext cx="43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Critical-to-quality &amp; business processes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</a:rPr>
              <a:t>APQP, MOC, PPAP, CCM, supplier approval and more.</a:t>
            </a:r>
          </a:p>
        </p:txBody>
      </p:sp>
      <p:sp>
        <p:nvSpPr>
          <p:cNvPr id="53" name="cl53"/>
          <p:cNvSpPr/>
          <p:nvPr/>
        </p:nvSpPr>
        <p:spPr>
          <a:xfrm>
            <a:off x="548640" y="3280000"/>
            <a:ext cx="520000" cy="5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4" name="tb54"/>
          <p:cNvSpPr/>
          <p:nvPr/>
        </p:nvSpPr>
        <p:spPr>
          <a:xfrm>
            <a:off x="1248640" y="3210000"/>
            <a:ext cx="43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Short-term risk management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</a:rPr>
              <a:t>Contain today's risks before they reach the customer.</a:t>
            </a:r>
          </a:p>
        </p:txBody>
      </p:sp>
      <p:sp>
        <p:nvSpPr>
          <p:cNvPr id="55" name="cl55"/>
          <p:cNvSpPr/>
          <p:nvPr/>
        </p:nvSpPr>
        <p:spPr>
          <a:xfrm>
            <a:off x="548640" y="4320000"/>
            <a:ext cx="520000" cy="5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6" name="tb56"/>
          <p:cNvSpPr/>
          <p:nvPr/>
        </p:nvSpPr>
        <p:spPr>
          <a:xfrm>
            <a:off x="1248640" y="4250000"/>
            <a:ext cx="43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Quality management system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</a:rPr>
              <a:t>A QMS that supports the business — ISO and IATF aligned.</a:t>
            </a:r>
          </a:p>
        </p:txBody>
      </p:sp>
      <p:sp>
        <p:nvSpPr>
          <p:cNvPr id="57" name="cl57"/>
          <p:cNvSpPr/>
          <p:nvPr/>
        </p:nvSpPr>
        <p:spPr>
          <a:xfrm>
            <a:off x="548640" y="5360000"/>
            <a:ext cx="520000" cy="5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8" name="tb58"/>
          <p:cNvSpPr/>
          <p:nvPr/>
        </p:nvSpPr>
        <p:spPr>
          <a:xfrm>
            <a:off x="1248640" y="5290000"/>
            <a:ext cx="43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Competence development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</a:rPr>
              <a:t>Close capability gaps across quality and engineering.</a:t>
            </a:r>
          </a:p>
        </p:txBody>
      </p:sp>
      <p:sp>
        <p:nvSpPr>
          <p:cNvPr id="59" name="cl59"/>
          <p:cNvSpPr/>
          <p:nvPr/>
        </p:nvSpPr>
        <p:spPr>
          <a:xfrm>
            <a:off x="6048640" y="2240000"/>
            <a:ext cx="520000" cy="5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60" name="tb60"/>
          <p:cNvSpPr/>
          <p:nvPr/>
        </p:nvSpPr>
        <p:spPr>
          <a:xfrm>
            <a:off x="6748640" y="2170000"/>
            <a:ext cx="43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Problem solving &amp; continuous improvement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</a:rPr>
              <a:t>Zero Defect, DMAIC and Six Sigma.</a:t>
            </a:r>
          </a:p>
        </p:txBody>
      </p:sp>
      <p:sp>
        <p:nvSpPr>
          <p:cNvPr id="61" name="cl61"/>
          <p:cNvSpPr/>
          <p:nvPr/>
        </p:nvSpPr>
        <p:spPr>
          <a:xfrm>
            <a:off x="6048640" y="3280000"/>
            <a:ext cx="520000" cy="5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62" name="tb62"/>
          <p:cNvSpPr/>
          <p:nvPr/>
        </p:nvSpPr>
        <p:spPr>
          <a:xfrm>
            <a:off x="6748640" y="3210000"/>
            <a:ext cx="43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Digitalization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</a:rPr>
              <a:t>Digitalize core business processes and quality data.</a:t>
            </a:r>
          </a:p>
        </p:txBody>
      </p:sp>
      <p:sp>
        <p:nvSpPr>
          <p:cNvPr id="63" name="cl63"/>
          <p:cNvSpPr/>
          <p:nvPr/>
        </p:nvSpPr>
        <p:spPr>
          <a:xfrm>
            <a:off x="6048640" y="4320000"/>
            <a:ext cx="520000" cy="5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64" name="tb64"/>
          <p:cNvSpPr/>
          <p:nvPr/>
        </p:nvSpPr>
        <p:spPr>
          <a:xfrm>
            <a:off x="6748640" y="4250000"/>
            <a:ext cx="43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Operational support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</a:rPr>
              <a:t>Hands-on help to keep momentum and embed the change.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9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AXIS 2  //  WORKSTREAM 1 · PROCESSES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The processes that keep quality from slipping</a:t>
            </a:r>
          </a:p>
        </p:txBody>
      </p:sp>
      <p:sp>
        <p:nvSpPr>
          <p:cNvPr id="50" name="pn50"/>
          <p:cNvSpPr/>
          <p:nvPr/>
        </p:nvSpPr>
        <p:spPr>
          <a:xfrm>
            <a:off x="548640" y="1760000"/>
            <a:ext cx="3444240" cy="15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b51"/>
          <p:cNvSpPr/>
          <p:nvPr/>
        </p:nvSpPr>
        <p:spPr>
          <a:xfrm>
            <a:off x="768640" y="1940000"/>
            <a:ext cx="300424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</a:rPr>
              <a:t>APQP</a:t>
            </a:r>
          </a:p>
        </p:txBody>
      </p:sp>
      <p:sp>
        <p:nvSpPr>
          <p:cNvPr id="52" name="tb52"/>
          <p:cNvSpPr/>
          <p:nvPr/>
        </p:nvSpPr>
        <p:spPr>
          <a:xfrm>
            <a:off x="768640" y="2400000"/>
            <a:ext cx="300424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Launches that go right the first time.</a:t>
            </a:r>
          </a:p>
        </p:txBody>
      </p:sp>
      <p:sp>
        <p:nvSpPr>
          <p:cNvPr id="53" name="pn53"/>
          <p:cNvSpPr/>
          <p:nvPr/>
        </p:nvSpPr>
        <p:spPr>
          <a:xfrm>
            <a:off x="4267200" y="1760000"/>
            <a:ext cx="3444240" cy="15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b54"/>
          <p:cNvSpPr/>
          <p:nvPr/>
        </p:nvSpPr>
        <p:spPr>
          <a:xfrm>
            <a:off x="4487200" y="1940000"/>
            <a:ext cx="300424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</a:rPr>
              <a:t>MOC</a:t>
            </a:r>
          </a:p>
        </p:txBody>
      </p:sp>
      <p:sp>
        <p:nvSpPr>
          <p:cNvPr id="55" name="tb55"/>
          <p:cNvSpPr/>
          <p:nvPr/>
        </p:nvSpPr>
        <p:spPr>
          <a:xfrm>
            <a:off x="4487200" y="2400000"/>
            <a:ext cx="300424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Changes that never introduce new risk.</a:t>
            </a:r>
          </a:p>
        </p:txBody>
      </p:sp>
      <p:sp>
        <p:nvSpPr>
          <p:cNvPr id="56" name="pn56"/>
          <p:cNvSpPr/>
          <p:nvPr/>
        </p:nvSpPr>
        <p:spPr>
          <a:xfrm>
            <a:off x="7985760" y="1760000"/>
            <a:ext cx="3444240" cy="15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b57"/>
          <p:cNvSpPr/>
          <p:nvPr/>
        </p:nvSpPr>
        <p:spPr>
          <a:xfrm>
            <a:off x="8205760" y="1940000"/>
            <a:ext cx="300424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</a:rPr>
              <a:t>PPAP / ISIR / FAI</a:t>
            </a:r>
          </a:p>
        </p:txBody>
      </p:sp>
      <p:sp>
        <p:nvSpPr>
          <p:cNvPr id="58" name="tb58"/>
          <p:cNvSpPr/>
          <p:nvPr/>
        </p:nvSpPr>
        <p:spPr>
          <a:xfrm>
            <a:off x="8205760" y="2400000"/>
            <a:ext cx="300424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Production signed off before it starts.</a:t>
            </a:r>
          </a:p>
        </p:txBody>
      </p:sp>
      <p:sp>
        <p:nvSpPr>
          <p:cNvPr id="59" name="pn59"/>
          <p:cNvSpPr/>
          <p:nvPr/>
        </p:nvSpPr>
        <p:spPr>
          <a:xfrm>
            <a:off x="548640" y="3460000"/>
            <a:ext cx="3444240" cy="15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b60"/>
          <p:cNvSpPr/>
          <p:nvPr/>
        </p:nvSpPr>
        <p:spPr>
          <a:xfrm>
            <a:off x="768640" y="3640000"/>
            <a:ext cx="300424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</a:rPr>
              <a:t>CCM</a:t>
            </a:r>
          </a:p>
        </p:txBody>
      </p:sp>
      <p:sp>
        <p:nvSpPr>
          <p:cNvPr id="61" name="tb61"/>
          <p:cNvSpPr/>
          <p:nvPr/>
        </p:nvSpPr>
        <p:spPr>
          <a:xfrm>
            <a:off x="768640" y="4100000"/>
            <a:ext cx="300424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Complaints resolved fast — and prevented next time.</a:t>
            </a:r>
          </a:p>
        </p:txBody>
      </p:sp>
      <p:sp>
        <p:nvSpPr>
          <p:cNvPr id="62" name="pn62"/>
          <p:cNvSpPr/>
          <p:nvPr/>
        </p:nvSpPr>
        <p:spPr>
          <a:xfrm>
            <a:off x="4267200" y="3460000"/>
            <a:ext cx="3444240" cy="15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tb63"/>
          <p:cNvSpPr/>
          <p:nvPr/>
        </p:nvSpPr>
        <p:spPr>
          <a:xfrm>
            <a:off x="4487200" y="3640000"/>
            <a:ext cx="300424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</a:rPr>
              <a:t>ERM</a:t>
            </a:r>
          </a:p>
        </p:txBody>
      </p:sp>
      <p:sp>
        <p:nvSpPr>
          <p:cNvPr id="64" name="tb64"/>
          <p:cNvSpPr/>
          <p:nvPr/>
        </p:nvSpPr>
        <p:spPr>
          <a:xfrm>
            <a:off x="4487200" y="4100000"/>
            <a:ext cx="300424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Risk priced in before you commit to a contract.</a:t>
            </a:r>
          </a:p>
        </p:txBody>
      </p:sp>
      <p:sp>
        <p:nvSpPr>
          <p:cNvPr id="65" name="pn65"/>
          <p:cNvSpPr/>
          <p:nvPr/>
        </p:nvSpPr>
        <p:spPr>
          <a:xfrm>
            <a:off x="7985760" y="3460000"/>
            <a:ext cx="3444240" cy="15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tb66"/>
          <p:cNvSpPr/>
          <p:nvPr/>
        </p:nvSpPr>
        <p:spPr>
          <a:xfrm>
            <a:off x="8205760" y="3640000"/>
            <a:ext cx="300424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</a:rPr>
              <a:t>Supplier Approval</a:t>
            </a:r>
          </a:p>
        </p:txBody>
      </p:sp>
      <p:sp>
        <p:nvSpPr>
          <p:cNvPr id="67" name="tb67"/>
          <p:cNvSpPr/>
          <p:nvPr/>
        </p:nvSpPr>
        <p:spPr>
          <a:xfrm>
            <a:off x="8205760" y="4100000"/>
            <a:ext cx="300424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Partners who meet your standards, not just your price.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10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AXIS 2  //  WORKSTREAMS 4 &amp; 5 · CAPABILITY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Processes only last if your people own them</a:t>
            </a:r>
          </a:p>
        </p:txBody>
      </p:sp>
      <p:sp>
        <p:nvSpPr>
          <p:cNvPr id="50" name="tb50"/>
          <p:cNvSpPr/>
          <p:nvPr/>
        </p:nvSpPr>
        <p:spPr>
          <a:xfrm>
            <a:off x="548640" y="1700000"/>
            <a:ext cx="10881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</a:rPr>
              <a:t>We close the competence gaps with hands-on, coaching-led training across two domains:</a:t>
            </a:r>
          </a:p>
        </p:txBody>
      </p:sp>
      <p:sp>
        <p:nvSpPr>
          <p:cNvPr id="51" name="pn51"/>
          <p:cNvSpPr/>
          <p:nvPr/>
        </p:nvSpPr>
        <p:spPr>
          <a:xfrm>
            <a:off x="548640" y="2350000"/>
            <a:ext cx="5257800" cy="29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cl52"/>
          <p:cNvSpPr/>
          <p:nvPr/>
        </p:nvSpPr>
        <p:spPr>
          <a:xfrm>
            <a:off x="848640" y="2630000"/>
            <a:ext cx="540000" cy="54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Q</a:t>
            </a:r>
          </a:p>
        </p:txBody>
      </p:sp>
      <p:sp>
        <p:nvSpPr>
          <p:cNvPr id="53" name="tb53"/>
          <p:cNvSpPr/>
          <p:nvPr/>
        </p:nvSpPr>
        <p:spPr>
          <a:xfrm>
            <a:off x="1508640" y="2650000"/>
            <a:ext cx="41578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</a:rPr>
              <a:t>Quality</a:t>
            </a:r>
          </a:p>
        </p:txBody>
      </p:sp>
      <p:sp>
        <p:nvSpPr>
          <p:cNvPr id="54" name="tb54"/>
          <p:cNvSpPr/>
          <p:nvPr/>
        </p:nvSpPr>
        <p:spPr>
          <a:xfrm>
            <a:off x="848640" y="3400000"/>
            <a:ext cx="46578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</a:rPr>
              <a:t>—  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Critical-to-quality processes (APQP, MOC, CCM)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</a:rPr>
              <a:t>—  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Quality management systems &amp; ISO standards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</a:rPr>
              <a:t>—  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Auditing techniques: internal, supplier, process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</a:rPr>
              <a:t>—  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Risk management &amp; FMEA facilitation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</a:rPr>
              <a:t>—  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Problem solving, MSA &amp; SPC</a:t>
            </a:r>
          </a:p>
        </p:txBody>
      </p:sp>
      <p:sp>
        <p:nvSpPr>
          <p:cNvPr id="55" name="pn55"/>
          <p:cNvSpPr/>
          <p:nvPr/>
        </p:nvSpPr>
        <p:spPr>
          <a:xfrm>
            <a:off x="6172200" y="2350000"/>
            <a:ext cx="5257800" cy="29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cl56"/>
          <p:cNvSpPr/>
          <p:nvPr/>
        </p:nvSpPr>
        <p:spPr>
          <a:xfrm>
            <a:off x="6472200" y="2630000"/>
            <a:ext cx="540000" cy="54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57" name="tb57"/>
          <p:cNvSpPr/>
          <p:nvPr/>
        </p:nvSpPr>
        <p:spPr>
          <a:xfrm>
            <a:off x="7132200" y="2650000"/>
            <a:ext cx="41578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</a:rPr>
              <a:t>Six Sigma</a:t>
            </a:r>
          </a:p>
        </p:txBody>
      </p:sp>
      <p:sp>
        <p:nvSpPr>
          <p:cNvPr id="58" name="tb58"/>
          <p:cNvSpPr/>
          <p:nvPr/>
        </p:nvSpPr>
        <p:spPr>
          <a:xfrm>
            <a:off x="6472200" y="3400000"/>
            <a:ext cx="46578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</a:rPr>
              <a:t>—  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DMAIC — Green Belt &amp; Black Belt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</a:rPr>
              <a:t>—  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Design for Six Sigma (DfSS)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</a:rPr>
              <a:t>—  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Reliability engineering &amp; testing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</a:rPr>
              <a:t>—  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Robust design &amp; Design of Experiments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</a:rPr>
              <a:t>—  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Statistical modelling &amp; tolerancing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11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2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FFFF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THREE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370332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Improvement Program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stand-alone program to engineer product cost down — across all processes, with or without a quality problem.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AXIS 3  //  TWO COMPLEMENTARY ENGINES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CIP as the engine — CoNQ as one of its tools</a:t>
            </a:r>
          </a:p>
        </p:txBody>
      </p:sp>
      <p:sp>
        <p:nvSpPr>
          <p:cNvPr id="50" name="pn50"/>
          <p:cNvSpPr/>
          <p:nvPr/>
        </p:nvSpPr>
        <p:spPr>
          <a:xfrm>
            <a:off x="548640" y="1720000"/>
            <a:ext cx="4300000" cy="296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b51"/>
          <p:cNvSpPr/>
          <p:nvPr/>
        </p:nvSpPr>
        <p:spPr>
          <a:xfrm>
            <a:off x="828640" y="1920000"/>
            <a:ext cx="374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</a:rPr>
              <a:t>CoNQ</a:t>
            </a:r>
          </a:p>
        </p:txBody>
      </p:sp>
      <p:sp>
        <p:nvSpPr>
          <p:cNvPr id="52" name="tb52"/>
          <p:cNvSpPr/>
          <p:nvPr/>
        </p:nvSpPr>
        <p:spPr>
          <a:xfrm>
            <a:off x="828640" y="2340000"/>
            <a:ext cx="374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</a:rPr>
              <a:t>Diagnostic tool inside CIP</a:t>
            </a:r>
          </a:p>
        </p:txBody>
      </p:sp>
      <p:sp>
        <p:nvSpPr>
          <p:cNvPr id="53" name="pn53"/>
          <p:cNvSpPr/>
          <p:nvPr/>
        </p:nvSpPr>
        <p:spPr>
          <a:xfrm>
            <a:off x="828640" y="2730000"/>
            <a:ext cx="3740000" cy="420000"/>
          </a:xfrm>
          <a:prstGeom prst="roundRect">
            <a:avLst>
              <a:gd name="adj" fmla="val 20000"/>
            </a:avLst>
          </a:prstGeom>
          <a:solidFill>
            <a:srgbClr val="F4E4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b54"/>
          <p:cNvSpPr/>
          <p:nvPr/>
        </p:nvSpPr>
        <p:spPr>
          <a:xfrm>
            <a:off x="828640" y="2730000"/>
            <a:ext cx="374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</a:rPr>
              <a:t>DMAIC  /  Lean Six Sigma</a:t>
            </a:r>
          </a:p>
        </p:txBody>
      </p:sp>
      <p:sp>
        <p:nvSpPr>
          <p:cNvPr id="55" name="tb55"/>
          <p:cNvSpPr/>
          <p:nvPr/>
        </p:nvSpPr>
        <p:spPr>
          <a:xfrm>
            <a:off x="828640" y="3320000"/>
            <a:ext cx="3740000" cy="1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Complaints</a:t>
            </a:r>
          </a:p>
          <a:p>
            <a:pPr marL="0" indent="0">
              <a:spcBef>
                <a:spcPts val="650"/>
              </a:spcBef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Scrap</a:t>
            </a:r>
          </a:p>
          <a:p>
            <a:pPr marL="0" indent="0">
              <a:spcBef>
                <a:spcPts val="650"/>
              </a:spcBef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Loss &amp; rework</a:t>
            </a:r>
          </a:p>
        </p:txBody>
      </p:sp>
      <p:sp>
        <p:nvSpPr>
          <p:cNvPr id="56" name="pn56"/>
          <p:cNvSpPr/>
          <p:nvPr/>
        </p:nvSpPr>
        <p:spPr>
          <a:xfrm>
            <a:off x="6548640" y="1720000"/>
            <a:ext cx="4300000" cy="296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b57"/>
          <p:cNvSpPr/>
          <p:nvPr/>
        </p:nvSpPr>
        <p:spPr>
          <a:xfrm>
            <a:off x="6828640" y="1920000"/>
            <a:ext cx="374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</a:rPr>
              <a:t>CIP</a:t>
            </a:r>
          </a:p>
        </p:txBody>
      </p:sp>
      <p:sp>
        <p:nvSpPr>
          <p:cNvPr id="58" name="tb58"/>
          <p:cNvSpPr/>
          <p:nvPr/>
        </p:nvSpPr>
        <p:spPr>
          <a:xfrm>
            <a:off x="6828640" y="2340000"/>
            <a:ext cx="374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</a:rPr>
              <a:t>Engineer out tomorrow's cost</a:t>
            </a:r>
          </a:p>
        </p:txBody>
      </p:sp>
      <p:sp>
        <p:nvSpPr>
          <p:cNvPr id="59" name="pn59"/>
          <p:cNvSpPr/>
          <p:nvPr/>
        </p:nvSpPr>
        <p:spPr>
          <a:xfrm>
            <a:off x="6828640" y="2730000"/>
            <a:ext cx="3740000" cy="420000"/>
          </a:xfrm>
          <a:prstGeom prst="roundRect">
            <a:avLst>
              <a:gd name="adj" fmla="val 20000"/>
            </a:avLst>
          </a:prstGeom>
          <a:solidFill>
            <a:srgbClr val="F4E4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b60"/>
          <p:cNvSpPr/>
          <p:nvPr/>
        </p:nvSpPr>
        <p:spPr>
          <a:xfrm>
            <a:off x="6828640" y="2730000"/>
            <a:ext cx="374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</a:rPr>
              <a:t>Design for Six Sigma</a:t>
            </a:r>
          </a:p>
        </p:txBody>
      </p:sp>
      <p:sp>
        <p:nvSpPr>
          <p:cNvPr id="61" name="tb61"/>
          <p:cNvSpPr/>
          <p:nvPr/>
        </p:nvSpPr>
        <p:spPr>
          <a:xfrm>
            <a:off x="6828640" y="3320000"/>
            <a:ext cx="3740000" cy="1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Design &amp; built-in quality</a:t>
            </a:r>
          </a:p>
          <a:p>
            <a:pPr marL="0" indent="0">
              <a:spcBef>
                <a:spcPts val="650"/>
              </a:spcBef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</a:rPr>
              <a:t>Supplier cost reduction</a:t>
            </a:r>
          </a:p>
        </p:txBody>
      </p:sp>
      <p:sp>
        <p:nvSpPr>
          <p:cNvPr id="62" name="ar62"/>
          <p:cNvSpPr/>
          <p:nvPr/>
        </p:nvSpPr>
        <p:spPr>
          <a:xfrm>
            <a:off x="4978640" y="2900000"/>
            <a:ext cx="1440000" cy="30000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ar63"/>
          <p:cNvSpPr/>
          <p:nvPr/>
        </p:nvSpPr>
        <p:spPr>
          <a:xfrm>
            <a:off x="4978640" y="3440000"/>
            <a:ext cx="1440000" cy="300000"/>
          </a:xfrm>
          <a:prstGeom prst="leftArrow">
            <a:avLst/>
          </a:prstGeom>
          <a:solidFill>
            <a:srgbClr val="4B55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pn64"/>
          <p:cNvSpPr/>
          <p:nvPr/>
        </p:nvSpPr>
        <p:spPr>
          <a:xfrm>
            <a:off x="548640" y="4900000"/>
            <a:ext cx="10881360" cy="960000"/>
          </a:xfrm>
          <a:prstGeom prst="roundRect">
            <a:avLst>
              <a:gd name="adj" fmla="val 8000"/>
            </a:avLst>
          </a:prstGeom>
          <a:solidFill>
            <a:srgbClr val="F4E4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tb65"/>
          <p:cNvSpPr/>
          <p:nvPr/>
        </p:nvSpPr>
        <p:spPr>
          <a:xfrm>
            <a:off x="768640" y="4900000"/>
            <a:ext cx="10441360" cy="9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The CIP is a stand-alone program covering product cost across all business processes — activatable even without a quality problem. CoNQ is one of its diagnostic instruments: it quantifies quality losses and feeds them back as improvement targets.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13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AXIS 3  //  CoNQ WITHIN CIP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Quantify losses — and feed them into the CIP as targets</a:t>
            </a:r>
          </a:p>
        </p:txBody>
      </p:sp>
      <p:sp>
        <p:nvSpPr>
          <p:cNvPr id="50" name="tb50"/>
          <p:cNvSpPr/>
          <p:nvPr/>
        </p:nvSpPr>
        <p:spPr>
          <a:xfrm>
            <a:off x="548640" y="1700000"/>
            <a:ext cx="1088136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</a:rPr>
              <a:t>CoNQ is one of the CIP’s diagnostic instruments. It measures the financial weight of quality failures — complaints, scrap and rework — and converts them into prioritized improvement targets inside the CIP.</a:t>
            </a:r>
          </a:p>
        </p:txBody>
      </p:sp>
      <p:sp>
        <p:nvSpPr>
          <p:cNvPr id="51" name="cl51"/>
          <p:cNvSpPr/>
          <p:nvPr/>
        </p:nvSpPr>
        <p:spPr>
          <a:xfrm>
            <a:off x="548640" y="2500000"/>
            <a:ext cx="560000" cy="5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◆</a:t>
            </a:r>
          </a:p>
        </p:txBody>
      </p:sp>
      <p:sp>
        <p:nvSpPr>
          <p:cNvPr id="52" name="tb52"/>
          <p:cNvSpPr/>
          <p:nvPr/>
        </p:nvSpPr>
        <p:spPr>
          <a:xfrm>
            <a:off x="1308640" y="241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Complaints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Faster resolution and root-cause fixes that stop recurrence.</a:t>
            </a:r>
          </a:p>
        </p:txBody>
      </p:sp>
      <p:sp>
        <p:nvSpPr>
          <p:cNvPr id="53" name="cl53"/>
          <p:cNvSpPr/>
          <p:nvPr/>
        </p:nvSpPr>
        <p:spPr>
          <a:xfrm>
            <a:off x="548640" y="3420000"/>
            <a:ext cx="560000" cy="5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◆</a:t>
            </a:r>
          </a:p>
        </p:txBody>
      </p:sp>
      <p:sp>
        <p:nvSpPr>
          <p:cNvPr id="54" name="tb54"/>
          <p:cNvSpPr/>
          <p:nvPr/>
        </p:nvSpPr>
        <p:spPr>
          <a:xfrm>
            <a:off x="1308640" y="333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Scrap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Cut the material and capacity lost to defective output.</a:t>
            </a:r>
          </a:p>
        </p:txBody>
      </p:sp>
      <p:sp>
        <p:nvSpPr>
          <p:cNvPr id="55" name="cl55"/>
          <p:cNvSpPr/>
          <p:nvPr/>
        </p:nvSpPr>
        <p:spPr>
          <a:xfrm>
            <a:off x="548640" y="4340000"/>
            <a:ext cx="560000" cy="5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◆</a:t>
            </a:r>
          </a:p>
        </p:txBody>
      </p:sp>
      <p:sp>
        <p:nvSpPr>
          <p:cNvPr id="56" name="tb56"/>
          <p:cNvSpPr/>
          <p:nvPr/>
        </p:nvSpPr>
        <p:spPr>
          <a:xfrm>
            <a:off x="1308640" y="425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Loss &amp; rework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Eliminate the hidden hours spent fixing what should be right.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14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AXIS 3  //  COST IMPROVEMENT PROGRAM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Stand-alone program, real savings</a:t>
            </a:r>
          </a:p>
        </p:txBody>
      </p:sp>
      <p:sp>
        <p:nvSpPr>
          <p:cNvPr id="50" name="tb50"/>
          <p:cNvSpPr/>
          <p:nvPr/>
        </p:nvSpPr>
        <p:spPr>
          <a:xfrm>
            <a:off x="548640" y="1720000"/>
            <a:ext cx="10881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</a:rPr>
              <a:t>Run as a structured Cost Improvement Program, the typical prize is:</a:t>
            </a:r>
          </a:p>
        </p:txBody>
      </p:sp>
      <p:sp>
        <p:nvSpPr>
          <p:cNvPr id="51" name="pn51"/>
          <p:cNvSpPr/>
          <p:nvPr/>
        </p:nvSpPr>
        <p:spPr>
          <a:xfrm>
            <a:off x="548640" y="2350000"/>
            <a:ext cx="5257800" cy="25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b52"/>
          <p:cNvSpPr/>
          <p:nvPr/>
        </p:nvSpPr>
        <p:spPr>
          <a:xfrm>
            <a:off x="848640" y="2710000"/>
            <a:ext cx="46578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C0392B"/>
                </a:solidFill>
                <a:latin typeface="Calibri" pitchFamily="34" charset="0"/>
              </a:rPr>
              <a:t>3–10%</a:t>
            </a:r>
          </a:p>
        </p:txBody>
      </p:sp>
      <p:sp>
        <p:nvSpPr>
          <p:cNvPr id="53" name="tb53"/>
          <p:cNvSpPr/>
          <p:nvPr/>
        </p:nvSpPr>
        <p:spPr>
          <a:xfrm>
            <a:off x="848640" y="3970000"/>
            <a:ext cx="46578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</a:rPr>
              <a:t>of product cost — identified in detail and taken through to implementation.</a:t>
            </a:r>
          </a:p>
        </p:txBody>
      </p:sp>
      <p:sp>
        <p:nvSpPr>
          <p:cNvPr id="54" name="pn54"/>
          <p:cNvSpPr/>
          <p:nvPr/>
        </p:nvSpPr>
        <p:spPr>
          <a:xfrm>
            <a:off x="6172200" y="2350000"/>
            <a:ext cx="5257800" cy="25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tb55"/>
          <p:cNvSpPr/>
          <p:nvPr/>
        </p:nvSpPr>
        <p:spPr>
          <a:xfrm>
            <a:off x="6472200" y="2710000"/>
            <a:ext cx="46578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C0392B"/>
                </a:solidFill>
                <a:latin typeface="Calibri" pitchFamily="34" charset="0"/>
              </a:rPr>
              <a:t>12 mo</a:t>
            </a:r>
          </a:p>
        </p:txBody>
      </p:sp>
      <p:sp>
        <p:nvSpPr>
          <p:cNvPr id="56" name="tb56"/>
          <p:cNvSpPr/>
          <p:nvPr/>
        </p:nvSpPr>
        <p:spPr>
          <a:xfrm>
            <a:off x="6472200" y="3970000"/>
            <a:ext cx="46578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</a:rPr>
              <a:t>to embed the new way of working, with your own CIP experts trained in each product line.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15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AXIS 3  //  WHERE SAVINGS COME FROM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Three levers — and the question each answers</a:t>
            </a:r>
          </a:p>
        </p:txBody>
      </p:sp>
      <p:sp>
        <p:nvSpPr>
          <p:cNvPr id="50" name="pn50"/>
          <p:cNvSpPr/>
          <p:nvPr/>
        </p:nvSpPr>
        <p:spPr>
          <a:xfrm>
            <a:off x="548640" y="1840000"/>
            <a:ext cx="3444240" cy="35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cl51"/>
          <p:cNvSpPr/>
          <p:nvPr/>
        </p:nvSpPr>
        <p:spPr>
          <a:xfrm>
            <a:off x="848640" y="2160000"/>
            <a:ext cx="760000" cy="7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tb52"/>
          <p:cNvSpPr/>
          <p:nvPr/>
        </p:nvSpPr>
        <p:spPr>
          <a:xfrm>
            <a:off x="848640" y="3120000"/>
            <a:ext cx="284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Product specifications</a:t>
            </a:r>
          </a:p>
        </p:txBody>
      </p:sp>
      <p:sp>
        <p:nvSpPr>
          <p:cNvPr id="53" name="tb53"/>
          <p:cNvSpPr/>
          <p:nvPr/>
        </p:nvSpPr>
        <p:spPr>
          <a:xfrm>
            <a:off x="848640" y="3740000"/>
            <a:ext cx="284424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“Do my products have the right features?”  →  prioritize what customers truly value.</a:t>
            </a:r>
          </a:p>
        </p:txBody>
      </p:sp>
      <p:sp>
        <p:nvSpPr>
          <p:cNvPr id="54" name="pn54"/>
          <p:cNvSpPr/>
          <p:nvPr/>
        </p:nvSpPr>
        <p:spPr>
          <a:xfrm>
            <a:off x="4267200" y="1840000"/>
            <a:ext cx="3444240" cy="35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cl55"/>
          <p:cNvSpPr/>
          <p:nvPr/>
        </p:nvSpPr>
        <p:spPr>
          <a:xfrm>
            <a:off x="4567200" y="2160000"/>
            <a:ext cx="760000" cy="7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6" name="tb56"/>
          <p:cNvSpPr/>
          <p:nvPr/>
        </p:nvSpPr>
        <p:spPr>
          <a:xfrm>
            <a:off x="4567200" y="3120000"/>
            <a:ext cx="284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Sourcing &amp; price</a:t>
            </a:r>
          </a:p>
        </p:txBody>
      </p:sp>
      <p:sp>
        <p:nvSpPr>
          <p:cNvPr id="57" name="tb57"/>
          <p:cNvSpPr/>
          <p:nvPr/>
        </p:nvSpPr>
        <p:spPr>
          <a:xfrm>
            <a:off x="4567200" y="3740000"/>
            <a:ext cx="284424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“Am I buying at the right price?”  →  clean-sheet target costing, part by part.</a:t>
            </a:r>
          </a:p>
        </p:txBody>
      </p:sp>
      <p:sp>
        <p:nvSpPr>
          <p:cNvPr id="58" name="pn58"/>
          <p:cNvSpPr/>
          <p:nvPr/>
        </p:nvSpPr>
        <p:spPr>
          <a:xfrm>
            <a:off x="7985760" y="1840000"/>
            <a:ext cx="3444240" cy="35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cl59"/>
          <p:cNvSpPr/>
          <p:nvPr/>
        </p:nvSpPr>
        <p:spPr>
          <a:xfrm>
            <a:off x="8285760" y="2160000"/>
            <a:ext cx="760000" cy="7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60" name="tb60"/>
          <p:cNvSpPr/>
          <p:nvPr/>
        </p:nvSpPr>
        <p:spPr>
          <a:xfrm>
            <a:off x="8285760" y="3120000"/>
            <a:ext cx="2844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Technical solutions</a:t>
            </a:r>
          </a:p>
        </p:txBody>
      </p:sp>
      <p:sp>
        <p:nvSpPr>
          <p:cNvPr id="61" name="tb61"/>
          <p:cNvSpPr/>
          <p:nvPr/>
        </p:nvSpPr>
        <p:spPr>
          <a:xfrm>
            <a:off x="8285760" y="3740000"/>
            <a:ext cx="284424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“Is there a lower-cost design?”  →  teardown-driven redesign of product and process.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16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AXIS 3  //  HOW IT WORKS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A co-located team with a mandate to act</a:t>
            </a:r>
          </a:p>
        </p:txBody>
      </p:sp>
      <p:sp>
        <p:nvSpPr>
          <p:cNvPr id="50" name="cl50"/>
          <p:cNvSpPr/>
          <p:nvPr/>
        </p:nvSpPr>
        <p:spPr>
          <a:xfrm>
            <a:off x="548640" y="1780000"/>
            <a:ext cx="560000" cy="5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⟳</a:t>
            </a:r>
          </a:p>
        </p:txBody>
      </p:sp>
      <p:sp>
        <p:nvSpPr>
          <p:cNvPr id="51" name="tb51"/>
          <p:cNvSpPr/>
          <p:nvPr/>
        </p:nvSpPr>
        <p:spPr>
          <a:xfrm>
            <a:off x="1308640" y="169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A co-located, cross-functional team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Engineering, purchasing, manufacturing, sales &amp; quality — working to shared stretch targets.</a:t>
            </a:r>
          </a:p>
        </p:txBody>
      </p:sp>
      <p:sp>
        <p:nvSpPr>
          <p:cNvPr id="52" name="cl52"/>
          <p:cNvSpPr/>
          <p:nvPr/>
        </p:nvSpPr>
        <p:spPr>
          <a:xfrm>
            <a:off x="548640" y="2720000"/>
            <a:ext cx="560000" cy="5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★</a:t>
            </a:r>
          </a:p>
        </p:txBody>
      </p:sp>
      <p:sp>
        <p:nvSpPr>
          <p:cNvPr id="53" name="tb53"/>
          <p:cNvSpPr/>
          <p:nvPr/>
        </p:nvSpPr>
        <p:spPr>
          <a:xfrm>
            <a:off x="1308640" y="263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Clear top-management commitment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Quick decisions, resources allocated, barriers removed.</a:t>
            </a:r>
          </a:p>
        </p:txBody>
      </p:sp>
      <p:sp>
        <p:nvSpPr>
          <p:cNvPr id="54" name="cl54"/>
          <p:cNvSpPr/>
          <p:nvPr/>
        </p:nvSpPr>
        <p:spPr>
          <a:xfrm>
            <a:off x="548640" y="3660000"/>
            <a:ext cx="560000" cy="5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◆</a:t>
            </a:r>
          </a:p>
        </p:txBody>
      </p:sp>
      <p:sp>
        <p:nvSpPr>
          <p:cNvPr id="55" name="tb55"/>
          <p:cNvSpPr/>
          <p:nvPr/>
        </p:nvSpPr>
        <p:spPr>
          <a:xfrm>
            <a:off x="1308640" y="357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Dedicated resources &amp; gates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Around two FTE, a shared budget and structured gate reviews.</a:t>
            </a:r>
          </a:p>
        </p:txBody>
      </p:sp>
      <p:sp>
        <p:nvSpPr>
          <p:cNvPr id="56" name="pn56"/>
          <p:cNvSpPr/>
          <p:nvPr/>
        </p:nvSpPr>
        <p:spPr>
          <a:xfrm>
            <a:off x="548640" y="4900000"/>
            <a:ext cx="10881360" cy="820000"/>
          </a:xfrm>
          <a:prstGeom prst="roundRect">
            <a:avLst>
              <a:gd name="adj" fmla="val 10000"/>
            </a:avLst>
          </a:prstGeom>
          <a:solidFill>
            <a:srgbClr val="F4E4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b57"/>
          <p:cNvSpPr/>
          <p:nvPr/>
        </p:nvSpPr>
        <p:spPr>
          <a:xfrm>
            <a:off x="768640" y="4900000"/>
            <a:ext cx="1044136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Fuelled by competitor benchmarking and supplier workshops — and aimed at all three margin drivers: value, cost and sales.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17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EXECUTION  //  DIGITALIZATION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Digitalize the processes that run quality</a:t>
            </a:r>
          </a:p>
        </p:txBody>
      </p:sp>
      <p:sp>
        <p:nvSpPr>
          <p:cNvPr id="50" name="tb50"/>
          <p:cNvSpPr/>
          <p:nvPr/>
        </p:nvSpPr>
        <p:spPr>
          <a:xfrm>
            <a:off x="548640" y="1700000"/>
            <a:ext cx="1088136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</a:rPr>
              <a:t>Once the plan is set, we digitalize your core business processes — turning manual quality work and scattered data into connected, real-time workflows.</a:t>
            </a:r>
          </a:p>
        </p:txBody>
      </p:sp>
      <p:sp>
        <p:nvSpPr>
          <p:cNvPr id="51" name="pn51"/>
          <p:cNvSpPr/>
          <p:nvPr/>
        </p:nvSpPr>
        <p:spPr>
          <a:xfrm>
            <a:off x="548640" y="2520000"/>
            <a:ext cx="3444240" cy="252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rc52"/>
          <p:cNvSpPr/>
          <p:nvPr/>
        </p:nvSpPr>
        <p:spPr>
          <a:xfrm>
            <a:off x="848640" y="2840000"/>
            <a:ext cx="520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b53"/>
          <p:cNvSpPr/>
          <p:nvPr/>
        </p:nvSpPr>
        <p:spPr>
          <a:xfrm>
            <a:off x="848640" y="3060000"/>
            <a:ext cx="284424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</a:rPr>
              <a:t>Connected processes</a:t>
            </a:r>
          </a:p>
        </p:txBody>
      </p:sp>
      <p:sp>
        <p:nvSpPr>
          <p:cNvPr id="54" name="tb54"/>
          <p:cNvSpPr/>
          <p:nvPr/>
        </p:nvSpPr>
        <p:spPr>
          <a:xfrm>
            <a:off x="848640" y="3820000"/>
            <a:ext cx="2844240" cy="10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One flow from enquiry to delivery — not disconnected tools and spreadsheets.</a:t>
            </a:r>
          </a:p>
        </p:txBody>
      </p:sp>
      <p:sp>
        <p:nvSpPr>
          <p:cNvPr id="55" name="pn55"/>
          <p:cNvSpPr/>
          <p:nvPr/>
        </p:nvSpPr>
        <p:spPr>
          <a:xfrm>
            <a:off x="4267200" y="2520000"/>
            <a:ext cx="3444240" cy="252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rc56"/>
          <p:cNvSpPr/>
          <p:nvPr/>
        </p:nvSpPr>
        <p:spPr>
          <a:xfrm>
            <a:off x="4567200" y="2840000"/>
            <a:ext cx="520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b57"/>
          <p:cNvSpPr/>
          <p:nvPr/>
        </p:nvSpPr>
        <p:spPr>
          <a:xfrm>
            <a:off x="4567200" y="3060000"/>
            <a:ext cx="284424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</a:rPr>
              <a:t>Quality data you can trust</a:t>
            </a:r>
          </a:p>
        </p:txBody>
      </p:sp>
      <p:sp>
        <p:nvSpPr>
          <p:cNvPr id="58" name="tb58"/>
          <p:cNvSpPr/>
          <p:nvPr/>
        </p:nvSpPr>
        <p:spPr>
          <a:xfrm>
            <a:off x="4567200" y="3820000"/>
            <a:ext cx="2844240" cy="10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Real-time, single-source metrics for faster, better decisions.</a:t>
            </a:r>
          </a:p>
        </p:txBody>
      </p:sp>
      <p:sp>
        <p:nvSpPr>
          <p:cNvPr id="59" name="pn59"/>
          <p:cNvSpPr/>
          <p:nvPr/>
        </p:nvSpPr>
        <p:spPr>
          <a:xfrm>
            <a:off x="7985760" y="2520000"/>
            <a:ext cx="3444240" cy="252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rc60"/>
          <p:cNvSpPr/>
          <p:nvPr/>
        </p:nvSpPr>
        <p:spPr>
          <a:xfrm>
            <a:off x="8285760" y="2840000"/>
            <a:ext cx="520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tb61"/>
          <p:cNvSpPr/>
          <p:nvPr/>
        </p:nvSpPr>
        <p:spPr>
          <a:xfrm>
            <a:off x="8285760" y="3060000"/>
            <a:ext cx="284424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</a:rPr>
              <a:t>Less manual effort</a:t>
            </a:r>
          </a:p>
        </p:txBody>
      </p:sp>
      <p:sp>
        <p:nvSpPr>
          <p:cNvPr id="62" name="tb62"/>
          <p:cNvSpPr/>
          <p:nvPr/>
        </p:nvSpPr>
        <p:spPr>
          <a:xfrm>
            <a:off x="8285760" y="3820000"/>
            <a:ext cx="2844240" cy="10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</a:rPr>
              <a:t>Automate checks and reporting; free your people for higher-value work.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18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CFFFA-8806-391F-F795-38F47CC1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13FE29-6759-A88A-5DC7-467758E9E472}"/>
              </a:ext>
            </a:extLst>
          </p:cNvPr>
          <p:cNvSpPr/>
          <p:nvPr/>
        </p:nvSpPr>
        <p:spPr>
          <a:xfrm>
            <a:off x="548640" y="10972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25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37B691-1AF9-BF53-ABA1-410BEA9D785C}"/>
              </a:ext>
            </a:extLst>
          </p:cNvPr>
          <p:cNvSpPr/>
          <p:nvPr/>
        </p:nvSpPr>
        <p:spPr>
          <a:xfrm>
            <a:off x="73152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AXIS THREE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987E30-0818-F444-5698-CC128C8583B4}"/>
              </a:ext>
            </a:extLst>
          </p:cNvPr>
          <p:cNvSpPr/>
          <p:nvPr/>
        </p:nvSpPr>
        <p:spPr>
          <a:xfrm>
            <a:off x="731520" y="370332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F494C6-51EE-354B-3BC9-37B7AD57866F}"/>
              </a:ext>
            </a:extLst>
          </p:cNvPr>
          <p:cNvSpPr/>
          <p:nvPr/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F79B62-98B2-525F-A86C-E0E435B26480}"/>
              </a:ext>
            </a:extLst>
          </p:cNvPr>
          <p:cNvSpPr/>
          <p:nvPr/>
        </p:nvSpPr>
        <p:spPr>
          <a:xfrm>
            <a:off x="73152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efficiency implementing one or more digital platform to support your non-ERP- driven business processes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367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EXECUTION  //  TARGET LANDSCAPE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A connected, AI-accelerated landscape</a:t>
            </a:r>
          </a:p>
        </p:txBody>
      </p:sp>
      <p:pic>
        <p:nvPicPr>
          <p:cNvPr id="50" name="Digital architectur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81000" y="1560000"/>
            <a:ext cx="7230000" cy="4820000"/>
          </a:xfrm>
          <a:prstGeom prst="rect">
            <a:avLst/>
          </a:prstGeom>
        </p:spPr>
      </p:pic>
      <p:sp>
        <p:nvSpPr>
          <p:cNvPr id="51" name="frame"/>
          <p:cNvSpPr/>
          <p:nvPr/>
        </p:nvSpPr>
        <p:spPr>
          <a:xfrm>
            <a:off x="2481000" y="1560000"/>
            <a:ext cx="7230000" cy="4820000"/>
          </a:xfrm>
          <a:prstGeom prst="rect">
            <a:avLst/>
          </a:prstGeom>
          <a:noFill/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19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THE JOURNEY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Three axes, one compounding loop</a:t>
            </a:r>
          </a:p>
        </p:txBody>
      </p:sp>
      <p:sp>
        <p:nvSpPr>
          <p:cNvPr id="50" name="cl50"/>
          <p:cNvSpPr/>
          <p:nvPr/>
        </p:nvSpPr>
        <p:spPr>
          <a:xfrm>
            <a:off x="1780760" y="2150000"/>
            <a:ext cx="980000" cy="98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51" name="tb51"/>
          <p:cNvSpPr/>
          <p:nvPr/>
        </p:nvSpPr>
        <p:spPr>
          <a:xfrm>
            <a:off x="548640" y="3250000"/>
            <a:ext cx="344424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</a:rPr>
              <a:t>Gap Assessment</a:t>
            </a:r>
          </a:p>
        </p:txBody>
      </p:sp>
      <p:sp>
        <p:nvSpPr>
          <p:cNvPr id="52" name="tb52"/>
          <p:cNvSpPr/>
          <p:nvPr/>
        </p:nvSpPr>
        <p:spPr>
          <a:xfrm>
            <a:off x="3930040" y="2380000"/>
            <a:ext cx="4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53" name="cl53"/>
          <p:cNvSpPr/>
          <p:nvPr/>
        </p:nvSpPr>
        <p:spPr>
          <a:xfrm>
            <a:off x="5499320" y="2150000"/>
            <a:ext cx="980000" cy="98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54" name="tb54"/>
          <p:cNvSpPr/>
          <p:nvPr/>
        </p:nvSpPr>
        <p:spPr>
          <a:xfrm>
            <a:off x="4267200" y="3250000"/>
            <a:ext cx="344424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</a:rPr>
              <a:t>Action Plan</a:t>
            </a:r>
          </a:p>
        </p:txBody>
      </p:sp>
      <p:sp>
        <p:nvSpPr>
          <p:cNvPr id="55" name="tb55"/>
          <p:cNvSpPr/>
          <p:nvPr/>
        </p:nvSpPr>
        <p:spPr>
          <a:xfrm>
            <a:off x="7648600" y="2380000"/>
            <a:ext cx="4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56" name="cl56"/>
          <p:cNvSpPr/>
          <p:nvPr/>
        </p:nvSpPr>
        <p:spPr>
          <a:xfrm>
            <a:off x="9217880" y="2150000"/>
            <a:ext cx="980000" cy="98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57" name="tb57"/>
          <p:cNvSpPr/>
          <p:nvPr/>
        </p:nvSpPr>
        <p:spPr>
          <a:xfrm>
            <a:off x="7985760" y="3250000"/>
            <a:ext cx="344424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</a:rPr>
              <a:t>Cost Improvement</a:t>
            </a:r>
          </a:p>
        </p:txBody>
      </p:sp>
      <p:sp>
        <p:nvSpPr>
          <p:cNvPr id="58" name="pn58"/>
          <p:cNvSpPr/>
          <p:nvPr/>
        </p:nvSpPr>
        <p:spPr>
          <a:xfrm>
            <a:off x="548640" y="4450000"/>
            <a:ext cx="10881360" cy="1000000"/>
          </a:xfrm>
          <a:prstGeom prst="roundRect">
            <a:avLst>
              <a:gd name="adj" fmla="val 8000"/>
            </a:avLst>
          </a:prstGeom>
          <a:solidFill>
            <a:srgbClr val="F4E4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b59"/>
          <p:cNvSpPr/>
          <p:nvPr/>
        </p:nvSpPr>
        <p:spPr>
          <a:xfrm>
            <a:off x="768640" y="4450000"/>
            <a:ext cx="1044136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Once the plan is set, cost reduction and digitalization run in parallel — and each cycle resets the baseline higher.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20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HOW WE ENGAGE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A clear path, from first look to lasting change</a:t>
            </a:r>
          </a:p>
        </p:txBody>
      </p:sp>
      <p:sp>
        <p:nvSpPr>
          <p:cNvPr id="50" name="pn50"/>
          <p:cNvSpPr/>
          <p:nvPr/>
        </p:nvSpPr>
        <p:spPr>
          <a:xfrm>
            <a:off x="548640" y="1820000"/>
            <a:ext cx="3444240" cy="31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cl51"/>
          <p:cNvSpPr/>
          <p:nvPr/>
        </p:nvSpPr>
        <p:spPr>
          <a:xfrm>
            <a:off x="848640" y="2120000"/>
            <a:ext cx="720000" cy="7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tb52"/>
          <p:cNvSpPr/>
          <p:nvPr/>
        </p:nvSpPr>
        <p:spPr>
          <a:xfrm>
            <a:off x="848640" y="2980000"/>
            <a:ext cx="284424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Diagnose</a:t>
            </a:r>
          </a:p>
        </p:txBody>
      </p:sp>
      <p:sp>
        <p:nvSpPr>
          <p:cNvPr id="53" name="tb53"/>
          <p:cNvSpPr/>
          <p:nvPr/>
        </p:nvSpPr>
        <p:spPr>
          <a:xfrm>
            <a:off x="848640" y="3420000"/>
            <a:ext cx="28442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</a:rPr>
              <a:t>Typically 4–6 weeks</a:t>
            </a:r>
          </a:p>
        </p:txBody>
      </p:sp>
      <p:sp>
        <p:nvSpPr>
          <p:cNvPr id="54" name="tb54"/>
          <p:cNvSpPr/>
          <p:nvPr/>
        </p:nvSpPr>
        <p:spPr>
          <a:xfrm>
            <a:off x="848640" y="3860000"/>
            <a:ext cx="2844240" cy="9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A gap assessment and a quantified baseline of where you stand.</a:t>
            </a:r>
          </a:p>
        </p:txBody>
      </p:sp>
      <p:sp>
        <p:nvSpPr>
          <p:cNvPr id="55" name="pn55"/>
          <p:cNvSpPr/>
          <p:nvPr/>
        </p:nvSpPr>
        <p:spPr>
          <a:xfrm>
            <a:off x="4267200" y="1820000"/>
            <a:ext cx="3444240" cy="31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cl56"/>
          <p:cNvSpPr/>
          <p:nvPr/>
        </p:nvSpPr>
        <p:spPr>
          <a:xfrm>
            <a:off x="4567200" y="2120000"/>
            <a:ext cx="720000" cy="7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7" name="tb57"/>
          <p:cNvSpPr/>
          <p:nvPr/>
        </p:nvSpPr>
        <p:spPr>
          <a:xfrm>
            <a:off x="4567200" y="2980000"/>
            <a:ext cx="284424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Design</a:t>
            </a:r>
          </a:p>
        </p:txBody>
      </p:sp>
      <p:sp>
        <p:nvSpPr>
          <p:cNvPr id="58" name="tb58"/>
          <p:cNvSpPr/>
          <p:nvPr/>
        </p:nvSpPr>
        <p:spPr>
          <a:xfrm>
            <a:off x="4567200" y="3420000"/>
            <a:ext cx="28442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</a:rPr>
              <a:t>Typically 4–8 weeks</a:t>
            </a:r>
          </a:p>
        </p:txBody>
      </p:sp>
      <p:sp>
        <p:nvSpPr>
          <p:cNvPr id="59" name="tb59"/>
          <p:cNvSpPr/>
          <p:nvPr/>
        </p:nvSpPr>
        <p:spPr>
          <a:xfrm>
            <a:off x="4567200" y="3860000"/>
            <a:ext cx="2844240" cy="9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A prioritized action plan with clear owners and leading KPIs.</a:t>
            </a:r>
          </a:p>
        </p:txBody>
      </p:sp>
      <p:sp>
        <p:nvSpPr>
          <p:cNvPr id="60" name="pn60"/>
          <p:cNvSpPr/>
          <p:nvPr/>
        </p:nvSpPr>
        <p:spPr>
          <a:xfrm>
            <a:off x="7985760" y="1820000"/>
            <a:ext cx="3444240" cy="31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cl61"/>
          <p:cNvSpPr/>
          <p:nvPr/>
        </p:nvSpPr>
        <p:spPr>
          <a:xfrm>
            <a:off x="8285760" y="2120000"/>
            <a:ext cx="720000" cy="72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62" name="tb62"/>
          <p:cNvSpPr/>
          <p:nvPr/>
        </p:nvSpPr>
        <p:spPr>
          <a:xfrm>
            <a:off x="8285760" y="2980000"/>
            <a:ext cx="284424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</a:rPr>
              <a:t>Deliver</a:t>
            </a:r>
          </a:p>
        </p:txBody>
      </p:sp>
      <p:sp>
        <p:nvSpPr>
          <p:cNvPr id="63" name="tb63"/>
          <p:cNvSpPr/>
          <p:nvPr/>
        </p:nvSpPr>
        <p:spPr>
          <a:xfrm>
            <a:off x="8285760" y="3420000"/>
            <a:ext cx="28442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</a:rPr>
              <a:t>Typically 6–12 months</a:t>
            </a:r>
          </a:p>
        </p:txBody>
      </p:sp>
      <p:sp>
        <p:nvSpPr>
          <p:cNvPr id="64" name="tb64"/>
          <p:cNvSpPr/>
          <p:nvPr/>
        </p:nvSpPr>
        <p:spPr>
          <a:xfrm>
            <a:off x="8285760" y="3860000"/>
            <a:ext cx="2844240" cy="9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Implementation alongside your teams — capability transferred, not rented.</a:t>
            </a:r>
          </a:p>
        </p:txBody>
      </p:sp>
      <p:sp>
        <p:nvSpPr>
          <p:cNvPr id="65" name="tb65"/>
          <p:cNvSpPr/>
          <p:nvPr/>
        </p:nvSpPr>
        <p:spPr>
          <a:xfrm>
            <a:off x="548640" y="5250000"/>
            <a:ext cx="1088136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</a:rPr>
              <a:t>Scaled to your size and ambition — we co-resource alongside your team, we do not replace it.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21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WHY QUALAMANTIS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We design the change — and stay to make it real</a:t>
            </a:r>
          </a:p>
        </p:txBody>
      </p:sp>
      <p:sp>
        <p:nvSpPr>
          <p:cNvPr id="50" name="tb50"/>
          <p:cNvSpPr/>
          <p:nvPr/>
        </p:nvSpPr>
        <p:spPr>
          <a:xfrm>
            <a:off x="548640" y="1620000"/>
            <a:ext cx="76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C0392B"/>
                </a:solidFill>
                <a:latin typeface="Calibri" pitchFamily="34" charset="0"/>
              </a:rPr>
              <a:t>“</a:t>
            </a:r>
          </a:p>
        </p:txBody>
      </p:sp>
      <p:sp>
        <p:nvSpPr>
          <p:cNvPr id="51" name="tb51"/>
          <p:cNvSpPr/>
          <p:nvPr/>
        </p:nvSpPr>
        <p:spPr>
          <a:xfrm>
            <a:off x="1368640" y="1760000"/>
            <a:ext cx="1006136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</a:rPr>
              <a:t>Not a one-size-fits-all model — a partnership that builds quality into how your business runs, from the boardroom to the shop floor.</a:t>
            </a:r>
          </a:p>
        </p:txBody>
      </p:sp>
      <p:sp>
        <p:nvSpPr>
          <p:cNvPr id="52" name="cl52"/>
          <p:cNvSpPr/>
          <p:nvPr/>
        </p:nvSpPr>
        <p:spPr>
          <a:xfrm>
            <a:off x="548640" y="3560000"/>
            <a:ext cx="520000" cy="520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53" name="tb53"/>
          <p:cNvSpPr/>
          <p:nvPr/>
        </p:nvSpPr>
        <p:spPr>
          <a:xfrm>
            <a:off x="1308640" y="347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Senior practitioners who have led quality in global industry</a:t>
            </a:r>
          </a:p>
        </p:txBody>
      </p:sp>
      <p:sp>
        <p:nvSpPr>
          <p:cNvPr id="54" name="cl54"/>
          <p:cNvSpPr/>
          <p:nvPr/>
        </p:nvSpPr>
        <p:spPr>
          <a:xfrm>
            <a:off x="548640" y="4340000"/>
            <a:ext cx="520000" cy="520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55" name="tb55"/>
          <p:cNvSpPr/>
          <p:nvPr/>
        </p:nvSpPr>
        <p:spPr>
          <a:xfrm>
            <a:off x="1308640" y="425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A focus on savings that reach the P&amp;L, not just the report</a:t>
            </a:r>
          </a:p>
        </p:txBody>
      </p:sp>
      <p:sp>
        <p:nvSpPr>
          <p:cNvPr id="56" name="cl56"/>
          <p:cNvSpPr/>
          <p:nvPr/>
        </p:nvSpPr>
        <p:spPr>
          <a:xfrm>
            <a:off x="548640" y="5120000"/>
            <a:ext cx="520000" cy="520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57" name="tb57"/>
          <p:cNvSpPr/>
          <p:nvPr/>
        </p:nvSpPr>
        <p:spPr>
          <a:xfrm>
            <a:off x="1308640" y="503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Quality, cost and sustainability driven as one agenda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22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THE TEAM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Senior practitioners, not slideware</a:t>
            </a:r>
          </a:p>
        </p:txBody>
      </p:sp>
      <p:sp>
        <p:nvSpPr>
          <p:cNvPr id="50" name="pn50"/>
          <p:cNvSpPr/>
          <p:nvPr/>
        </p:nvSpPr>
        <p:spPr>
          <a:xfrm>
            <a:off x="548640" y="1860000"/>
            <a:ext cx="2029968" cy="26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cl51"/>
          <p:cNvSpPr/>
          <p:nvPr/>
        </p:nvSpPr>
        <p:spPr>
          <a:xfrm>
            <a:off x="1243624" y="2120000"/>
            <a:ext cx="640000" cy="64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SR</a:t>
            </a:r>
          </a:p>
        </p:txBody>
      </p:sp>
      <p:sp>
        <p:nvSpPr>
          <p:cNvPr id="52" name="tb52"/>
          <p:cNvSpPr/>
          <p:nvPr/>
        </p:nvSpPr>
        <p:spPr>
          <a:xfrm>
            <a:off x="608640" y="2940000"/>
            <a:ext cx="1909968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</a:rPr>
              <a:t>Silvio Rubatto</a:t>
            </a:r>
          </a:p>
        </p:txBody>
      </p:sp>
      <p:sp>
        <p:nvSpPr>
          <p:cNvPr id="53" name="tb53"/>
          <p:cNvSpPr/>
          <p:nvPr/>
        </p:nvSpPr>
        <p:spPr>
          <a:xfrm>
            <a:off x="608640" y="3680000"/>
            <a:ext cx="1909968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</a:rPr>
              <a:t>Business Quality executive</a:t>
            </a:r>
          </a:p>
        </p:txBody>
      </p:sp>
      <p:sp>
        <p:nvSpPr>
          <p:cNvPr id="54" name="pn54"/>
          <p:cNvSpPr/>
          <p:nvPr/>
        </p:nvSpPr>
        <p:spPr>
          <a:xfrm>
            <a:off x="2761488" y="1860000"/>
            <a:ext cx="2029968" cy="26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cl55"/>
          <p:cNvSpPr/>
          <p:nvPr/>
        </p:nvSpPr>
        <p:spPr>
          <a:xfrm>
            <a:off x="3456472" y="2120000"/>
            <a:ext cx="640000" cy="64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BD</a:t>
            </a:r>
          </a:p>
        </p:txBody>
      </p:sp>
      <p:sp>
        <p:nvSpPr>
          <p:cNvPr id="56" name="tb56"/>
          <p:cNvSpPr/>
          <p:nvPr/>
        </p:nvSpPr>
        <p:spPr>
          <a:xfrm>
            <a:off x="2821488" y="2940000"/>
            <a:ext cx="1909968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</a:rPr>
              <a:t>Bryan Dodson</a:t>
            </a:r>
          </a:p>
        </p:txBody>
      </p:sp>
      <p:sp>
        <p:nvSpPr>
          <p:cNvPr id="57" name="tb57"/>
          <p:cNvSpPr/>
          <p:nvPr/>
        </p:nvSpPr>
        <p:spPr>
          <a:xfrm>
            <a:off x="2821488" y="3680000"/>
            <a:ext cx="1909968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</a:rPr>
              <a:t>Product Quality &amp; Reliability</a:t>
            </a:r>
          </a:p>
        </p:txBody>
      </p:sp>
      <p:sp>
        <p:nvSpPr>
          <p:cNvPr id="58" name="pn58"/>
          <p:cNvSpPr/>
          <p:nvPr/>
        </p:nvSpPr>
        <p:spPr>
          <a:xfrm>
            <a:off x="4974336" y="1860000"/>
            <a:ext cx="2029968" cy="26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cl59"/>
          <p:cNvSpPr/>
          <p:nvPr/>
        </p:nvSpPr>
        <p:spPr>
          <a:xfrm>
            <a:off x="5669320" y="2120000"/>
            <a:ext cx="640000" cy="64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DD</a:t>
            </a:r>
          </a:p>
        </p:txBody>
      </p:sp>
      <p:sp>
        <p:nvSpPr>
          <p:cNvPr id="60" name="tb60"/>
          <p:cNvSpPr/>
          <p:nvPr/>
        </p:nvSpPr>
        <p:spPr>
          <a:xfrm>
            <a:off x="5034336" y="2940000"/>
            <a:ext cx="1909968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</a:rPr>
              <a:t>Domenico Ducci</a:t>
            </a:r>
          </a:p>
        </p:txBody>
      </p:sp>
      <p:sp>
        <p:nvSpPr>
          <p:cNvPr id="61" name="tb61"/>
          <p:cNvSpPr/>
          <p:nvPr/>
        </p:nvSpPr>
        <p:spPr>
          <a:xfrm>
            <a:off x="5034336" y="3680000"/>
            <a:ext cx="1909968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</a:rPr>
              <a:t>Advanced Procurement</a:t>
            </a:r>
          </a:p>
        </p:txBody>
      </p:sp>
      <p:sp>
        <p:nvSpPr>
          <p:cNvPr id="62" name="pn62"/>
          <p:cNvSpPr/>
          <p:nvPr/>
        </p:nvSpPr>
        <p:spPr>
          <a:xfrm>
            <a:off x="7187184" y="1860000"/>
            <a:ext cx="2029968" cy="26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cl63"/>
          <p:cNvSpPr/>
          <p:nvPr/>
        </p:nvSpPr>
        <p:spPr>
          <a:xfrm>
            <a:off x="7882168" y="2120000"/>
            <a:ext cx="640000" cy="64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FZ</a:t>
            </a:r>
          </a:p>
        </p:txBody>
      </p:sp>
      <p:sp>
        <p:nvSpPr>
          <p:cNvPr id="64" name="tb64"/>
          <p:cNvSpPr/>
          <p:nvPr/>
        </p:nvSpPr>
        <p:spPr>
          <a:xfrm>
            <a:off x="7247184" y="2940000"/>
            <a:ext cx="1909968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</a:rPr>
              <a:t>Filippo Zingariello</a:t>
            </a:r>
          </a:p>
        </p:txBody>
      </p:sp>
      <p:sp>
        <p:nvSpPr>
          <p:cNvPr id="65" name="tb65"/>
          <p:cNvSpPr/>
          <p:nvPr/>
        </p:nvSpPr>
        <p:spPr>
          <a:xfrm>
            <a:off x="7247184" y="3680000"/>
            <a:ext cx="1909968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</a:rPr>
              <a:t>Product Dev &amp; Technology</a:t>
            </a:r>
          </a:p>
        </p:txBody>
      </p:sp>
      <p:sp>
        <p:nvSpPr>
          <p:cNvPr id="66" name="pn66"/>
          <p:cNvSpPr/>
          <p:nvPr/>
        </p:nvSpPr>
        <p:spPr>
          <a:xfrm>
            <a:off x="9400032" y="1860000"/>
            <a:ext cx="2029968" cy="265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cl67"/>
          <p:cNvSpPr/>
          <p:nvPr/>
        </p:nvSpPr>
        <p:spPr>
          <a:xfrm>
            <a:off x="10095016" y="2120000"/>
            <a:ext cx="640000" cy="64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RJ</a:t>
            </a:r>
          </a:p>
        </p:txBody>
      </p:sp>
      <p:sp>
        <p:nvSpPr>
          <p:cNvPr id="68" name="tb68"/>
          <p:cNvSpPr/>
          <p:nvPr/>
        </p:nvSpPr>
        <p:spPr>
          <a:xfrm>
            <a:off x="9460032" y="2940000"/>
            <a:ext cx="1909968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</a:rPr>
              <a:t>Rob Jenkinson</a:t>
            </a:r>
          </a:p>
        </p:txBody>
      </p:sp>
      <p:sp>
        <p:nvSpPr>
          <p:cNvPr id="69" name="tb69"/>
          <p:cNvSpPr/>
          <p:nvPr/>
        </p:nvSpPr>
        <p:spPr>
          <a:xfrm>
            <a:off x="9460032" y="3680000"/>
            <a:ext cx="1909968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</a:rPr>
              <a:t>EHS &amp; Sustainability leader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23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368735" y="228600"/>
            <a:ext cx="548640" cy="457200"/>
          </a:xfrm>
          <a:prstGeom prst="rect">
            <a:avLst/>
          </a:prstGeom>
        </p:spPr>
      </p:pic>
      <p:sp>
        <p:nvSpPr>
          <p:cNvPr id="3" name="tb3"/>
          <p:cNvSpPr/>
          <p:nvPr/>
        </p:nvSpPr>
        <p:spPr>
          <a:xfrm>
            <a:off x="548640" y="502920"/>
            <a:ext cx="9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spc="400" dirty="0">
                <a:solidFill>
                  <a:srgbClr val="C0392B"/>
                </a:solidFill>
                <a:latin typeface="Calibri" pitchFamily="34" charset="0"/>
              </a:rPr>
              <a:t>WHERE TO START</a:t>
            </a:r>
          </a:p>
        </p:txBody>
      </p:sp>
      <p:sp>
        <p:nvSpPr>
          <p:cNvPr id="4" name="tb4"/>
          <p:cNvSpPr/>
          <p:nvPr/>
        </p:nvSpPr>
        <p:spPr>
          <a:xfrm>
            <a:off x="548640" y="82000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</a:rPr>
              <a:t>Begin with a cross-functional diagnostic</a:t>
            </a:r>
          </a:p>
        </p:txBody>
      </p:sp>
      <p:sp>
        <p:nvSpPr>
          <p:cNvPr id="50" name="cl50"/>
          <p:cNvSpPr/>
          <p:nvPr/>
        </p:nvSpPr>
        <p:spPr>
          <a:xfrm>
            <a:off x="548640" y="1800000"/>
            <a:ext cx="560000" cy="5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1" name="tb51"/>
          <p:cNvSpPr/>
          <p:nvPr/>
        </p:nvSpPr>
        <p:spPr>
          <a:xfrm>
            <a:off x="1308640" y="171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A short Business Performance scan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2–3 weeks, covering quality and product cost as two independent lenses.</a:t>
            </a:r>
          </a:p>
        </p:txBody>
      </p:sp>
      <p:sp>
        <p:nvSpPr>
          <p:cNvPr id="52" name="cl52"/>
          <p:cNvSpPr/>
          <p:nvPr/>
        </p:nvSpPr>
        <p:spPr>
          <a:xfrm>
            <a:off x="548640" y="2700000"/>
            <a:ext cx="560000" cy="5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3" name="tb53"/>
          <p:cNvSpPr/>
          <p:nvPr/>
        </p:nvSpPr>
        <p:spPr>
          <a:xfrm>
            <a:off x="1308640" y="261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A quantified view of quality losses and product cost opportunities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Two independent prizes, both expressed in euros.</a:t>
            </a:r>
          </a:p>
        </p:txBody>
      </p:sp>
      <p:sp>
        <p:nvSpPr>
          <p:cNvPr id="54" name="cl54"/>
          <p:cNvSpPr/>
          <p:nvPr/>
        </p:nvSpPr>
        <p:spPr>
          <a:xfrm>
            <a:off x="548640" y="3600000"/>
            <a:ext cx="560000" cy="5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5" name="tb55"/>
          <p:cNvSpPr/>
          <p:nvPr/>
        </p:nvSpPr>
        <p:spPr>
          <a:xfrm>
            <a:off x="1308640" y="3510000"/>
            <a:ext cx="1012136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</a:rPr>
              <a:t>A board-ready recommendation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</a:rPr>
              <a:t>Where to act first — and what it is worth.</a:t>
            </a:r>
          </a:p>
        </p:txBody>
      </p:sp>
      <p:sp>
        <p:nvSpPr>
          <p:cNvPr id="56" name="pn56"/>
          <p:cNvSpPr/>
          <p:nvPr/>
        </p:nvSpPr>
        <p:spPr>
          <a:xfrm>
            <a:off x="548640" y="4880000"/>
            <a:ext cx="10881360" cy="920000"/>
          </a:xfrm>
          <a:prstGeom prst="roundRect">
            <a:avLst>
              <a:gd name="adj" fmla="val 9000"/>
            </a:avLst>
          </a:prstGeom>
          <a:solidFill>
            <a:srgbClr val="F4E4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b57"/>
          <p:cNvSpPr/>
          <p:nvPr/>
        </p:nvSpPr>
        <p:spPr>
          <a:xfrm>
            <a:off x="768640" y="4880000"/>
            <a:ext cx="1044136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</a:rPr>
              <a:t>Low commitment, high clarity — see both prizes before committing to the full program.</a:t>
            </a:r>
          </a:p>
        </p:txBody>
      </p:sp>
      <p:sp>
        <p:nvSpPr>
          <p:cNvPr id="30" name="tb30"/>
          <p:cNvSpPr/>
          <p:nvPr/>
        </p:nvSpPr>
        <p:spPr>
          <a:xfrm>
            <a:off x="45720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spc="300" dirty="0">
                <a:solidFill>
                  <a:srgbClr val="6B7280"/>
                </a:solidFill>
                <a:latin typeface="Calibri" pitchFamily="34" charset="0"/>
              </a:rPr>
              <a:t>QUALAMANTIS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</a:rPr>
              <a:t>   //   24 / 25</a:t>
            </a:r>
          </a:p>
        </p:txBody>
      </p:sp>
      <p:sp>
        <p:nvSpPr>
          <p:cNvPr id="31" name="RedRule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/home/claude/build/logo_q.pn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7162800" y="1485242"/>
            <a:ext cx="4724400" cy="40011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30175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talk.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822960" y="4526280"/>
            <a:ext cx="27432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22960" y="4663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qualamantis@gmail.com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ASPERA AD ASTRA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1675</Words>
  <Application>Microsoft Office PowerPoint</Application>
  <PresentationFormat>Widescreen</PresentationFormat>
  <Paragraphs>277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Qualamantis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Qualamantis Template</dc:title>
  <dc:subject>PptxGenJS Presentation</dc:subject>
  <dc:creator>Qualamantis</dc:creator>
  <cp:lastModifiedBy>silvio rubatto</cp:lastModifiedBy>
  <cp:revision>4</cp:revision>
  <dcterms:created xsi:type="dcterms:W3CDTF">2026-04-21T19:29:01Z</dcterms:created>
  <dcterms:modified xsi:type="dcterms:W3CDTF">2026-06-08T14:48:20Z</dcterms:modified>
</cp:coreProperties>
</file>